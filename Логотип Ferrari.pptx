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8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61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89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66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257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86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25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55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47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14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330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5286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52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44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327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067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7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375CC5B-D7D7-4B9B-9525-40E54C263A70}" type="datetimeFigureOut">
              <a:rPr lang="ru-RU" smtClean="0"/>
              <a:t>10.03.2021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BFB6EC5-784C-4D03-A558-FD87A0EC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281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microsoft.com/office/2007/relationships/hdphoto" Target="../media/hdphoto8.wdp"/><Relationship Id="rId5" Type="http://schemas.microsoft.com/office/2007/relationships/hdphoto" Target="../media/hdphoto5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7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7981" y="87922"/>
            <a:ext cx="8001000" cy="2971801"/>
          </a:xfrm>
        </p:spPr>
        <p:txBody>
          <a:bodyPr/>
          <a:lstStyle/>
          <a:p>
            <a:pPr algn="ctr"/>
            <a:r>
              <a:rPr lang="ru-RU" dirty="0" smtClean="0"/>
              <a:t>История Логотипа </a:t>
            </a:r>
            <a:r>
              <a:rPr lang="en-US" dirty="0" err="1" smtClean="0"/>
              <a:t>ferrari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64950" y="5143404"/>
            <a:ext cx="6400800" cy="1947333"/>
          </a:xfrm>
        </p:spPr>
        <p:txBody>
          <a:bodyPr/>
          <a:lstStyle/>
          <a:p>
            <a:r>
              <a:rPr lang="ru-RU" dirty="0" smtClean="0"/>
              <a:t>работу </a:t>
            </a:r>
            <a:r>
              <a:rPr lang="ru-RU" dirty="0" err="1" smtClean="0"/>
              <a:t>выполнил:Мясников</a:t>
            </a:r>
            <a:r>
              <a:rPr lang="ru-RU" dirty="0" smtClean="0"/>
              <a:t> С.Н</a:t>
            </a:r>
          </a:p>
          <a:p>
            <a:r>
              <a:rPr lang="ru-RU" dirty="0" smtClean="0"/>
              <a:t>Голиков Н.С</a:t>
            </a:r>
          </a:p>
          <a:p>
            <a:r>
              <a:rPr lang="ru-RU" dirty="0" err="1" smtClean="0"/>
              <a:t>Проверил:Мочалов</a:t>
            </a:r>
            <a:r>
              <a:rPr lang="ru-RU" dirty="0" smtClean="0"/>
              <a:t> Н.А</a:t>
            </a:r>
            <a:endParaRPr lang="ru-RU" dirty="0"/>
          </a:p>
        </p:txBody>
      </p:sp>
      <p:pic>
        <p:nvPicPr>
          <p:cNvPr id="3074" name="Picture 2" descr="https://im0-tub-ru.yandex.net/i?id=7d4b5c46832b6e9d6651514139854bfe-l&amp;n=1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5" b="100000" l="0" r="100000">
                        <a14:backgroundMark x1="52444" y1="370" x2="52444" y2="370"/>
                        <a14:backgroundMark x1="51222" y1="370" x2="51222" y2="3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581" y="4410508"/>
            <a:ext cx="4741799" cy="284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Управляющая кнопка: далее 3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6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5112" y="2971800"/>
            <a:ext cx="8534400" cy="3615267"/>
          </a:xfrm>
        </p:spPr>
        <p:txBody>
          <a:bodyPr/>
          <a:lstStyle/>
          <a:p>
            <a:r>
              <a:rPr lang="ru-RU" dirty="0"/>
              <a:t>Феррари (</a:t>
            </a:r>
            <a:r>
              <a:rPr lang="ru-RU" dirty="0" err="1"/>
              <a:t>Ferrari</a:t>
            </a:r>
            <a:r>
              <a:rPr lang="ru-RU" dirty="0"/>
              <a:t>) — итальянская корпорация, занимающаяся выпуском высокотехнологичных, маневренных автомобилей, предназначенных для спортивных состязаний и гонок. В основном компания занимается выпуском автомобилей </a:t>
            </a:r>
            <a:r>
              <a:rPr lang="ru-RU" u="sng" dirty="0"/>
              <a:t>красного </a:t>
            </a:r>
            <a:r>
              <a:rPr lang="ru-RU" u="sng" dirty="0" smtClean="0"/>
              <a:t>цвета</a:t>
            </a:r>
            <a:r>
              <a:rPr lang="ru-RU" dirty="0" smtClean="0"/>
              <a:t>, </a:t>
            </a:r>
            <a:r>
              <a:rPr lang="ru-RU" dirty="0"/>
              <a:t>однако другие расцветки также используются в производстве. В настоящее время данная корпорация входит в число самых известных фирм в своей сфере.</a:t>
            </a:r>
          </a:p>
        </p:txBody>
      </p:sp>
      <p:pic>
        <p:nvPicPr>
          <p:cNvPr id="6146" name="Picture 2" descr="https://fsb.zobj.net/crop.php?r=G4r0JFkfOOiH0D8t_Ya5TypIigrAR8hYJWbm2UXXCLjPG-i9R1Y58yqJQOnTVfh_VB1qulVnAfdhRmHyLzfyYJ_qO5q4T1cnW4KT2A7tU-SgVlMWSfx7phvqFlrudbVy06rYyN-OgSbRZRA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25" b="88984" l="6124" r="94920">
                        <a14:foregroundMark x1="45372" y1="13906" x2="45372" y2="13906"/>
                        <a14:foregroundMark x1="51009" y1="16406" x2="51009" y2="16406"/>
                        <a14:foregroundMark x1="56019" y1="16406" x2="56019" y2="16406"/>
                        <a14:foregroundMark x1="57133" y1="20234" x2="57133" y2="20234"/>
                        <a14:foregroundMark x1="59081" y1="20234" x2="59081" y2="20234"/>
                        <a14:foregroundMark x1="62978" y1="19922" x2="62978" y2="19922"/>
                        <a14:foregroundMark x1="65553" y1="19922" x2="65553" y2="19922"/>
                        <a14:foregroundMark x1="68894" y1="20859" x2="68894" y2="20859"/>
                        <a14:foregroundMark x1="69729" y1="19297" x2="69729" y2="19297"/>
                        <a14:foregroundMark x1="67223" y1="18047" x2="67223" y2="18047"/>
                        <a14:foregroundMark x1="62143" y1="16094" x2="62143" y2="16094"/>
                        <a14:foregroundMark x1="66945" y1="17031" x2="66945" y2="17031"/>
                        <a14:foregroundMark x1="41475" y1="14219" x2="41475" y2="14219"/>
                        <a14:foregroundMark x1="41754" y1="16406" x2="41754" y2="16406"/>
                        <a14:foregroundMark x1="37578" y1="19297" x2="37578" y2="19297"/>
                        <a14:foregroundMark x1="29158" y1="21172" x2="29158" y2="21172"/>
                        <a14:foregroundMark x1="25818" y1="22734" x2="25818" y2="22734"/>
                        <a14:foregroundMark x1="24148" y1="23047" x2="24148" y2="23047"/>
                        <a14:foregroundMark x1="44816" y1="17344" x2="44816" y2="17344"/>
                        <a14:foregroundMark x1="47599" y1="18359" x2="47599" y2="18359"/>
                        <a14:foregroundMark x1="52122" y1="19922" x2="52122" y2="19922"/>
                        <a14:foregroundMark x1="53793" y1="17734" x2="53793" y2="17734"/>
                        <a14:foregroundMark x1="40084" y1="19297" x2="40084" y2="19297"/>
                        <a14:foregroundMark x1="33055" y1="21172" x2="33055" y2="21172"/>
                        <a14:foregroundMark x1="31942" y1="21172" x2="31942" y2="21172"/>
                        <a14:foregroundMark x1="34168" y1="19922" x2="34168" y2="19922"/>
                        <a14:foregroundMark x1="33612" y1="17344" x2="33612" y2="17344"/>
                        <a14:foregroundMark x1="38413" y1="16719" x2="38413" y2="16719"/>
                        <a14:foregroundMark x1="28045" y1="18672" x2="28045" y2="18672"/>
                        <a14:foregroundMark x1="47321" y1="15469" x2="47321" y2="154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127" y="225425"/>
            <a:ext cx="3404034" cy="303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Управляющая кнопка: назад 3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6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237" y="1115482"/>
            <a:ext cx="8534400" cy="1507067"/>
          </a:xfrm>
        </p:spPr>
        <p:txBody>
          <a:bodyPr/>
          <a:lstStyle/>
          <a:p>
            <a:r>
              <a:rPr lang="ru-RU" dirty="0" smtClean="0"/>
              <a:t>История создания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6537" y="2838450"/>
            <a:ext cx="8534400" cy="3615267"/>
          </a:xfrm>
        </p:spPr>
        <p:txBody>
          <a:bodyPr/>
          <a:lstStyle/>
          <a:p>
            <a:r>
              <a:rPr lang="ru-RU" dirty="0"/>
              <a:t>История </a:t>
            </a:r>
            <a:r>
              <a:rPr lang="ru-RU" dirty="0" err="1"/>
              <a:t>Ferrari</a:t>
            </a:r>
            <a:r>
              <a:rPr lang="ru-RU" dirty="0"/>
              <a:t> берет свои истоки в 1940, когда </a:t>
            </a:r>
            <a:r>
              <a:rPr lang="ru-RU" dirty="0" err="1"/>
              <a:t>Энцо</a:t>
            </a:r>
            <a:r>
              <a:rPr lang="ru-RU" dirty="0"/>
              <a:t> Феррари унаследовал профиль скачущей лошади от легендарного летчика времен Второй Мировой войны – </a:t>
            </a:r>
            <a:r>
              <a:rPr lang="ru-RU" dirty="0" err="1"/>
              <a:t>Франческо</a:t>
            </a:r>
            <a:r>
              <a:rPr lang="ru-RU" dirty="0"/>
              <a:t> </a:t>
            </a:r>
            <a:r>
              <a:rPr lang="ru-RU" dirty="0" err="1"/>
              <a:t>Баракка</a:t>
            </a:r>
            <a:r>
              <a:rPr lang="ru-RU" dirty="0"/>
              <a:t>, воевавшего в вооруженных силах Италии. Это был легендарный и бесстрашный летчик-испытатель, прошедший Первую Мировую войну. Герой погиб бесстрашно сражаясь с самолетами врага. Он и его команда провели 34 успешных воздушных атаки. Ретивый скакун был изображен на боках самолета</a:t>
            </a:r>
          </a:p>
        </p:txBody>
      </p:sp>
      <p:pic>
        <p:nvPicPr>
          <p:cNvPr id="4100" name="Picture 4" descr="https://alchetron.com/cdn/francesco-baracca-b23adec8-77b6-44ef-80c9-e0fde621e0e-resize-750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  <a14:imgEffect>
                      <a14:brightnessContrast bright="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" t="-519" r="-83" b="457"/>
          <a:stretch/>
        </p:blipFill>
        <p:spPr bwMode="auto">
          <a:xfrm>
            <a:off x="7560000" y="108000"/>
            <a:ext cx="3600000" cy="36000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Управляющая кнопка: далее 6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назад 7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44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962" y="3286125"/>
            <a:ext cx="8534400" cy="3615267"/>
          </a:xfrm>
        </p:spPr>
        <p:txBody>
          <a:bodyPr/>
          <a:lstStyle/>
          <a:p>
            <a:r>
              <a:rPr lang="ru-RU" dirty="0"/>
              <a:t>17 июня 1923 </a:t>
            </a:r>
            <a:r>
              <a:rPr lang="ru-RU" dirty="0" err="1" smtClean="0"/>
              <a:t>Энцо</a:t>
            </a:r>
            <a:r>
              <a:rPr lang="ru-RU" dirty="0" smtClean="0"/>
              <a:t> </a:t>
            </a:r>
            <a:r>
              <a:rPr lang="ru-RU" dirty="0"/>
              <a:t>Феррари познакомился с матерью легендарного летчика </a:t>
            </a:r>
            <a:r>
              <a:rPr lang="ru-RU" dirty="0" err="1"/>
              <a:t>Паолиной</a:t>
            </a:r>
            <a:r>
              <a:rPr lang="ru-RU" dirty="0"/>
              <a:t>, которая после победы </a:t>
            </a:r>
            <a:r>
              <a:rPr lang="ru-RU" dirty="0" err="1"/>
              <a:t>Энцо</a:t>
            </a:r>
            <a:r>
              <a:rPr lang="ru-RU" dirty="0"/>
              <a:t> в гонке </a:t>
            </a:r>
            <a:r>
              <a:rPr lang="ru-RU" dirty="0" err="1"/>
              <a:t>Savio</a:t>
            </a:r>
            <a:r>
              <a:rPr lang="ru-RU" dirty="0"/>
              <a:t> (Равенна), предложила воспользоваться любимой символикой сына для украшения автомобилей, что должно было принести удачу в гонках. Впервые ныне всеми узнаваемый логотип </a:t>
            </a:r>
            <a:r>
              <a:rPr lang="ru-RU" dirty="0" err="1"/>
              <a:t>Ferrari</a:t>
            </a:r>
            <a:r>
              <a:rPr lang="ru-RU" dirty="0"/>
              <a:t> появился на авто в 1940. Такова история самого известного сегодня логотипа спортивных и просто уникально красивых и резвых легковых автомобилей, очень быстро завоевавших весь мир</a:t>
            </a:r>
          </a:p>
        </p:txBody>
      </p:sp>
      <p:pic>
        <p:nvPicPr>
          <p:cNvPr id="4" name="Picture 2" descr="Энцо Феррар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30" y="239712"/>
            <a:ext cx="4576770" cy="30464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0" lon="12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/>
        </p:spPr>
      </p:pic>
      <p:sp>
        <p:nvSpPr>
          <p:cNvPr id="5" name="TextBox 4"/>
          <p:cNvSpPr txBox="1"/>
          <p:nvPr/>
        </p:nvSpPr>
        <p:spPr>
          <a:xfrm>
            <a:off x="474663" y="1171186"/>
            <a:ext cx="4000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dirty="0" err="1" smtClean="0"/>
              <a:t>Энцо</a:t>
            </a:r>
            <a:r>
              <a:rPr lang="ru-RU" sz="3600" dirty="0" smtClean="0"/>
              <a:t> Феррари</a:t>
            </a:r>
            <a:endParaRPr lang="ru-RU" sz="3600" dirty="0"/>
          </a:p>
        </p:txBody>
      </p:sp>
      <p:sp>
        <p:nvSpPr>
          <p:cNvPr id="8" name="Стрелка вправо 7"/>
          <p:cNvSpPr/>
          <p:nvPr/>
        </p:nvSpPr>
        <p:spPr>
          <a:xfrm>
            <a:off x="4710105" y="1171186"/>
            <a:ext cx="2185995" cy="1019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Управляющая кнопка: далее 9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назад 10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9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412" y="646642"/>
            <a:ext cx="8534400" cy="1507067"/>
          </a:xfrm>
        </p:spPr>
        <p:txBody>
          <a:bodyPr/>
          <a:lstStyle/>
          <a:p>
            <a:r>
              <a:rPr lang="ru-RU" dirty="0" smtClean="0"/>
              <a:t>Как менялся логотип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412" y="1346201"/>
            <a:ext cx="8534400" cy="3615267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Picture 2" descr="Логотип Феррари 19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28" b="89955" l="10000" r="90000">
                        <a14:foregroundMark x1="43508" y1="30587" x2="43508" y2="30587"/>
                        <a14:foregroundMark x1="47581" y1="29007" x2="47581" y2="29007"/>
                        <a14:foregroundMark x1="50040" y1="28386" x2="50040" y2="28386"/>
                        <a14:foregroundMark x1="53468" y1="29628" x2="53468" y2="29628"/>
                        <a14:foregroundMark x1="58427" y1="30587" x2="58427" y2="30587"/>
                        <a14:foregroundMark x1="60444" y1="31208" x2="60444" y2="31208"/>
                        <a14:foregroundMark x1="41532" y1="30023" x2="41532" y2="30023"/>
                        <a14:foregroundMark x1="39315" y1="31885" x2="39315" y2="31885"/>
                        <a14:foregroundMark x1="38226" y1="32223" x2="38226" y2="32223"/>
                        <a14:foregroundMark x1="61532" y1="31885" x2="61532" y2="31885"/>
                        <a14:foregroundMark x1="49839" y1="27144" x2="49839" y2="271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91131" y="1686701"/>
            <a:ext cx="6657747" cy="475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Логотип Феррари 195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589" b="89955" l="10000" r="90000">
                        <a14:foregroundMark x1="39839" y1="33804" x2="39839" y2="33804"/>
                        <a14:foregroundMark x1="40081" y1="34481" x2="40081" y2="34481"/>
                        <a14:foregroundMark x1="39113" y1="34989" x2="39113" y2="34989"/>
                        <a14:foregroundMark x1="49637" y1="32223" x2="49637" y2="32223"/>
                        <a14:foregroundMark x1="50726" y1="32393" x2="50726" y2="32393"/>
                        <a14:foregroundMark x1="52863" y1="32675" x2="52863" y2="32675"/>
                        <a14:foregroundMark x1="55726" y1="33465" x2="55726" y2="33465"/>
                        <a14:foregroundMark x1="60202" y1="34368" x2="60202" y2="34368"/>
                        <a14:foregroundMark x1="57984" y1="34650" x2="57984" y2="34650"/>
                        <a14:foregroundMark x1="57500" y1="34086" x2="57500" y2="34086"/>
                        <a14:backgroundMark x1="43105" y1="32223" x2="43105" y2="32223"/>
                        <a14:backgroundMark x1="39516" y1="33239" x2="39516" y2="33239"/>
                        <a14:backgroundMark x1="47903" y1="31038" x2="47903" y2="31038"/>
                        <a14:backgroundMark x1="49758" y1="30643" x2="49758" y2="30643"/>
                        <a14:backgroundMark x1="51492" y1="30926" x2="51492" y2="30926"/>
                        <a14:backgroundMark x1="53145" y1="31321" x2="53145" y2="31321"/>
                        <a14:backgroundMark x1="54677" y1="31603" x2="54677" y2="31603"/>
                        <a14:backgroundMark x1="58710" y1="32619" x2="58710" y2="32619"/>
                        <a14:backgroundMark x1="61331" y1="33296" x2="61331" y2="33296"/>
                        <a14:backgroundMark x1="61250" y1="35948" x2="61250" y2="35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805" y="1038613"/>
            <a:ext cx="8646669" cy="617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Логотип Феррари 196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642" y="1549037"/>
            <a:ext cx="7620717" cy="544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Логотип Феррари 199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240" y="869278"/>
            <a:ext cx="8572073" cy="612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Логотип Феррари 199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0403" y1="39729" x2="50403" y2="39729"/>
                        <a14:foregroundMark x1="50040" y1="46727" x2="50040" y2="46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566" y="1919098"/>
            <a:ext cx="5683484" cy="406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Управляющая кнопка: далее 9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Управляющая кнопка: назад 10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46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5912" y="258232"/>
            <a:ext cx="8534400" cy="1507067"/>
          </a:xfrm>
        </p:spPr>
        <p:txBody>
          <a:bodyPr/>
          <a:lstStyle/>
          <a:p>
            <a:r>
              <a:rPr lang="ru-RU" dirty="0" smtClean="0"/>
              <a:t>Этап 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940" y="781957"/>
            <a:ext cx="8534400" cy="3615267"/>
          </a:xfrm>
        </p:spPr>
        <p:txBody>
          <a:bodyPr/>
          <a:lstStyle/>
          <a:p>
            <a:r>
              <a:rPr lang="ru-RU" dirty="0"/>
              <a:t>1929 год — Феррари лого представлен гарцующим конём, расположенным на жёлтом треугольном щите. В нижней части эмблемы находятся две красивые заглавные латинские буквы «S» и «F» (обозначающие «</a:t>
            </a:r>
            <a:r>
              <a:rPr lang="ru-RU" dirty="0" err="1"/>
              <a:t>Scuderia</a:t>
            </a:r>
            <a:r>
              <a:rPr lang="ru-RU" dirty="0"/>
              <a:t> </a:t>
            </a:r>
            <a:r>
              <a:rPr lang="ru-RU" dirty="0" err="1"/>
              <a:t>Ferrari</a:t>
            </a:r>
            <a:r>
              <a:rPr lang="ru-RU" dirty="0"/>
              <a:t>»). Выполнена надпись скруглённым шрифтом. Сверху щита расположены три полосы разного цвета: зеленого, белого и красного. Иконка обрамлена черным контуром.</a:t>
            </a:r>
          </a:p>
        </p:txBody>
      </p:sp>
      <p:pic>
        <p:nvPicPr>
          <p:cNvPr id="8194" name="Picture 2" descr="Логотип Феррари 19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28" b="89955" l="10000" r="90000">
                        <a14:foregroundMark x1="43508" y1="30587" x2="43508" y2="30587"/>
                        <a14:foregroundMark x1="47581" y1="29007" x2="47581" y2="29007"/>
                        <a14:foregroundMark x1="50040" y1="28386" x2="50040" y2="28386"/>
                        <a14:foregroundMark x1="53468" y1="29628" x2="53468" y2="29628"/>
                        <a14:foregroundMark x1="58427" y1="30587" x2="58427" y2="30587"/>
                        <a14:foregroundMark x1="60444" y1="31208" x2="60444" y2="31208"/>
                        <a14:foregroundMark x1="41532" y1="30023" x2="41532" y2="30023"/>
                        <a14:foregroundMark x1="39315" y1="31885" x2="39315" y2="31885"/>
                        <a14:foregroundMark x1="38226" y1="32223" x2="38226" y2="32223"/>
                        <a14:foregroundMark x1="61532" y1="31885" x2="61532" y2="31885"/>
                        <a14:foregroundMark x1="49839" y1="27144" x2="49839" y2="271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552" y="3019499"/>
            <a:ext cx="6657747" cy="475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Управляющая кнопка: далее 4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назад 5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91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315912" y="2582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Этап 2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125412" y="1346201"/>
            <a:ext cx="8534400" cy="3615267"/>
          </a:xfrm>
        </p:spPr>
        <p:txBody>
          <a:bodyPr/>
          <a:lstStyle/>
          <a:p>
            <a:r>
              <a:rPr lang="ru-RU" dirty="0"/>
              <a:t>1950-1960 годы — логотип Феррари имеет такой же дизайн, как и в 1929 году. Однако теперь образ коня прорисован более детально. Кроме того, желтая заливка щита становится ярче.</a:t>
            </a:r>
          </a:p>
        </p:txBody>
      </p:sp>
      <p:pic>
        <p:nvPicPr>
          <p:cNvPr id="9218" name="Picture 2" descr="Логотип Феррари 19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589" b="89955" l="10000" r="90000">
                        <a14:foregroundMark x1="39839" y1="33804" x2="39839" y2="33804"/>
                        <a14:foregroundMark x1="40081" y1="34481" x2="40081" y2="34481"/>
                        <a14:foregroundMark x1="39113" y1="34989" x2="39113" y2="34989"/>
                        <a14:foregroundMark x1="49637" y1="32223" x2="49637" y2="32223"/>
                        <a14:foregroundMark x1="50726" y1="32393" x2="50726" y2="32393"/>
                        <a14:foregroundMark x1="52863" y1="32675" x2="52863" y2="32675"/>
                        <a14:foregroundMark x1="55726" y1="33465" x2="55726" y2="33465"/>
                        <a14:foregroundMark x1="60202" y1="34368" x2="60202" y2="34368"/>
                        <a14:foregroundMark x1="57984" y1="34650" x2="57984" y2="34650"/>
                        <a14:foregroundMark x1="57500" y1="34086" x2="57500" y2="34086"/>
                        <a14:backgroundMark x1="43105" y1="32223" x2="43105" y2="32223"/>
                        <a14:backgroundMark x1="39516" y1="33239" x2="39516" y2="33239"/>
                        <a14:backgroundMark x1="47903" y1="31038" x2="47903" y2="31038"/>
                        <a14:backgroundMark x1="49758" y1="30643" x2="49758" y2="30643"/>
                        <a14:backgroundMark x1="51492" y1="30926" x2="51492" y2="30926"/>
                        <a14:backgroundMark x1="53145" y1="31321" x2="53145" y2="31321"/>
                        <a14:backgroundMark x1="54677" y1="31603" x2="54677" y2="31603"/>
                        <a14:backgroundMark x1="58710" y1="32619" x2="58710" y2="32619"/>
                        <a14:backgroundMark x1="61331" y1="33296" x2="61331" y2="33296"/>
                        <a14:backgroundMark x1="61250" y1="35948" x2="61250" y2="359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930" y="2387599"/>
            <a:ext cx="8646669" cy="617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Управляющая кнопка: далее 6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назад 7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43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315912" y="2582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Этап 3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150812" y="850901"/>
            <a:ext cx="8534400" cy="3615267"/>
          </a:xfrm>
        </p:spPr>
        <p:txBody>
          <a:bodyPr/>
          <a:lstStyle/>
          <a:p>
            <a:r>
              <a:rPr lang="ru-RU" dirty="0"/>
              <a:t>1961-1989 годы — </a:t>
            </a:r>
            <a:r>
              <a:rPr lang="ru-RU" dirty="0" err="1"/>
              <a:t>Ferrari</a:t>
            </a:r>
            <a:r>
              <a:rPr lang="ru-RU" dirty="0"/>
              <a:t> </a:t>
            </a:r>
            <a:r>
              <a:rPr lang="ru-RU" dirty="0" err="1"/>
              <a:t>logo</a:t>
            </a:r>
            <a:r>
              <a:rPr lang="ru-RU" dirty="0"/>
              <a:t> приобретает прямоугольную форму. Вместо букв «S» и «F» появляется надпись «</a:t>
            </a:r>
            <a:r>
              <a:rPr lang="ru-RU" dirty="0" err="1"/>
              <a:t>Ferrari</a:t>
            </a:r>
            <a:r>
              <a:rPr lang="ru-RU" dirty="0"/>
              <a:t>». Особенность дизайна наименования — верхний элемент начального символа покрывает все остальные знаки. Изображение коня остается неизменным, как и цветовое решение логотипа в целом.</a:t>
            </a:r>
          </a:p>
        </p:txBody>
      </p:sp>
      <p:pic>
        <p:nvPicPr>
          <p:cNvPr id="11266" name="Picture 2" descr="Логотип Феррари 196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257" y="2514601"/>
            <a:ext cx="7620717" cy="544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назад 6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53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315912" y="2582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Этап 4</a:t>
            </a:r>
            <a:endParaRPr lang="ru-RU" dirty="0"/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125412" y="1346201"/>
            <a:ext cx="8534400" cy="3615267"/>
          </a:xfrm>
        </p:spPr>
        <p:txBody>
          <a:bodyPr/>
          <a:lstStyle/>
          <a:p>
            <a:r>
              <a:rPr lang="ru-RU" dirty="0"/>
              <a:t>1990-1996 год — возвращается вариант эмблемы, который использовался в 1950-е годы. Изменяется лишь фон щита — цвета становятся на порядок светлее. Надпись «</a:t>
            </a:r>
            <a:r>
              <a:rPr lang="ru-RU" dirty="0" err="1"/>
              <a:t>Ferrari</a:t>
            </a:r>
            <a:r>
              <a:rPr lang="ru-RU" dirty="0"/>
              <a:t>» снова заменяется двумя буквами «S» и «F».</a:t>
            </a:r>
          </a:p>
        </p:txBody>
      </p:sp>
      <p:pic>
        <p:nvPicPr>
          <p:cNvPr id="10242" name="Picture 2" descr="Логотип Феррари 199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2489200"/>
            <a:ext cx="8572073" cy="612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назад 6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80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5912" y="258232"/>
            <a:ext cx="8534400" cy="1507067"/>
          </a:xfrm>
        </p:spPr>
        <p:txBody>
          <a:bodyPr/>
          <a:lstStyle/>
          <a:p>
            <a:r>
              <a:rPr lang="ru-RU" dirty="0" smtClean="0"/>
              <a:t>Этап 1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940" y="781957"/>
            <a:ext cx="8534400" cy="3615267"/>
          </a:xfrm>
        </p:spPr>
        <p:txBody>
          <a:bodyPr/>
          <a:lstStyle/>
          <a:p>
            <a:r>
              <a:rPr lang="ru-RU" dirty="0"/>
              <a:t>1997 год — в Феррари лого появляется знаменитый ярко-красный оттенок. Надпись выполнена с достаточно крупным, широким интервалом между буквами, «заполненным» тонкими соединительными элементами (что лучше всего заметно на фото). Текст на логотипе, как и изображение коня, теперь выполнен из материала, имитирующего серебро. Буква «F», как и прежде, сверху соединяется с остальными буквами наименования бренда.</a:t>
            </a:r>
          </a:p>
        </p:txBody>
      </p:sp>
      <p:pic>
        <p:nvPicPr>
          <p:cNvPr id="12290" name="Picture 2" descr="Логотип Феррари 199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03" y1="39729" x2="50403" y2="39729"/>
                        <a14:foregroundMark x1="50040" y1="46727" x2="50040" y2="46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3034090"/>
            <a:ext cx="6997600" cy="499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11735563" y="6413181"/>
            <a:ext cx="456437" cy="444819"/>
          </a:xfrm>
          <a:prstGeom prst="actionButtonForwardNex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назад 6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64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9912" y="232832"/>
            <a:ext cx="8534400" cy="1507067"/>
          </a:xfrm>
        </p:spPr>
        <p:txBody>
          <a:bodyPr/>
          <a:lstStyle/>
          <a:p>
            <a:pPr algn="ctr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912" y="2197100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Эмблема автомобилей Феррари признана одним из лучших дизайнерских решений в мировой истории логотипов: она транслирует не только качество, рвение и стремительность, но и богатейшую историю бренда.</a:t>
            </a:r>
          </a:p>
        </p:txBody>
      </p:sp>
      <p:sp>
        <p:nvSpPr>
          <p:cNvPr id="4" name="Управляющая кнопка: назад 3">
            <a:hlinkClick r:id="" action="ppaction://hlinkshowjump?jump=previousslide" highlightClick="1"/>
          </p:cNvPr>
          <p:cNvSpPr/>
          <p:nvPr/>
        </p:nvSpPr>
        <p:spPr>
          <a:xfrm>
            <a:off x="11291063" y="6413181"/>
            <a:ext cx="444500" cy="444819"/>
          </a:xfrm>
          <a:prstGeom prst="actionButtonBackPrevious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23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67</TotalTime>
  <Words>346</Words>
  <Application>Microsoft Office PowerPoint</Application>
  <PresentationFormat>Широкоэкранный</PresentationFormat>
  <Paragraphs>22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Сектор</vt:lpstr>
      <vt:lpstr>История Логотипа ferrari</vt:lpstr>
      <vt:lpstr>Презентация PowerPoint</vt:lpstr>
      <vt:lpstr>История создания</vt:lpstr>
      <vt:lpstr>Презентация PowerPoint</vt:lpstr>
      <vt:lpstr>Как менялся логотип</vt:lpstr>
      <vt:lpstr>Этап 1</vt:lpstr>
      <vt:lpstr>Презентация PowerPoint</vt:lpstr>
      <vt:lpstr>Презентация PowerPoint</vt:lpstr>
      <vt:lpstr>Презентация PowerPoint</vt:lpstr>
      <vt:lpstr>Этап 1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Логотип Xiaomi</dc:title>
  <dc:creator>ПК</dc:creator>
  <cp:lastModifiedBy>ПК</cp:lastModifiedBy>
  <cp:revision>9</cp:revision>
  <dcterms:created xsi:type="dcterms:W3CDTF">2021-03-10T09:19:39Z</dcterms:created>
  <dcterms:modified xsi:type="dcterms:W3CDTF">2021-03-10T10:39:57Z</dcterms:modified>
</cp:coreProperties>
</file>